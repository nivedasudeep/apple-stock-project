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0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8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0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2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1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2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80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8264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77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1997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57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66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43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0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1837"/>
            <a:ext cx="7360920" cy="1676083"/>
          </a:xfrm>
        </p:spPr>
        <p:txBody>
          <a:bodyPr>
            <a:normAutofit fontScale="90000"/>
          </a:bodyPr>
          <a:lstStyle/>
          <a:p>
            <a:r>
              <a:rPr dirty="0">
                <a:latin typeface="Bahnschrift SemiBold Condensed" panose="020B0502040204020203" pitchFamily="34" charset="0"/>
              </a:rPr>
              <a:t>Project</a:t>
            </a:r>
            <a:br>
              <a:rPr lang="en-US" dirty="0"/>
            </a:br>
            <a:r>
              <a:rPr lang="en-US" dirty="0">
                <a:latin typeface="Bahnschrift SemiCondensed" panose="020B0502040204020203" pitchFamily="34" charset="0"/>
              </a:rPr>
              <a:t>30-Day Apple Stock Price Forecast</a:t>
            </a:r>
            <a:br>
              <a:rPr lang="en-US" dirty="0">
                <a:latin typeface="Bahnschrift SemiCondensed" panose="020B0502040204020203" pitchFamily="34" charset="0"/>
              </a:rPr>
            </a:br>
            <a:endParaRPr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2407920"/>
            <a:ext cx="7757160" cy="3718243"/>
          </a:xfrm>
        </p:spPr>
        <p:txBody>
          <a:bodyPr/>
          <a:lstStyle/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Apple stock prices for the next 30 days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ML &amp; statistical 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for financial decision-making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ARIMA, SARIMA, Random Forest &amp; XGBoost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Mentor &amp; 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Prajwal AN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Durga Prasad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.Kumaraswamy T 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Harshith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Srivalli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Prashanth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forecast Apple's stock price for the next 30 days by analyzing historical data (2012–2019) and comparing multiple models.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investors and traders make informed decisions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markets are highly volatile. Predicting future prices accurately can help in investment planning.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builds, compares, and evaluates models to find the most accurate predictor.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Dataset</a:t>
            </a:r>
            <a:r>
              <a:rPr dirty="0"/>
              <a:t> </a:t>
            </a:r>
            <a:r>
              <a:rPr dirty="0">
                <a:latin typeface="Bahnschrift SemiBold Condensed" panose="020B0502040204020203" pitchFamily="34" charset="0"/>
              </a:rPr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Yahoo Finance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Years: 2012 to 2019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Date, Open, High, Low, Close, Adj Close, Volume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Close Price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checks: No missing values, data sorted by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EDA – Closing Price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84120"/>
            <a:ext cx="8229600" cy="2407921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closing price shows an overall upward trend with noticeable dips due to market corrections.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long-term movement and volatility.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EDA – Moving 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5270"/>
            <a:ext cx="8107680" cy="2651761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30-day and 90-day moving averages smooth out short-term noise.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identify trend direction, momentum, and potential support/resistance zones.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EDA – Volume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321040" cy="2834641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spikes indicate major market events, earnings announcements, or external global events.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volume confirms strong market movement.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EDA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Stock grows steadily over years</a:t>
            </a:r>
          </a:p>
          <a:p>
            <a:pPr marL="0" indent="0">
              <a:buNone/>
            </a:pPr>
            <a:r>
              <a:rPr dirty="0"/>
              <a:t>• Occasional fluctuations due to events</a:t>
            </a:r>
          </a:p>
          <a:p>
            <a:pPr marL="0" indent="0">
              <a:buNone/>
            </a:pPr>
            <a:r>
              <a:rPr dirty="0"/>
              <a:t>• No missing values after cleaning</a:t>
            </a:r>
          </a:p>
          <a:p>
            <a:pPr marL="0" indent="0">
              <a:buNone/>
            </a:pPr>
            <a:r>
              <a:rPr dirty="0"/>
              <a:t>• Trend + seasonal + random behavior present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1" y="1905000"/>
            <a:ext cx="6936986" cy="400622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Four models used:</a:t>
            </a:r>
          </a:p>
          <a:p>
            <a:pPr>
              <a:buFont typeface="+mj-lt"/>
              <a:buAutoNum type="arabicPeriod"/>
            </a:pPr>
            <a:r>
              <a:rPr dirty="0"/>
              <a:t>1.</a:t>
            </a:r>
            <a:r>
              <a:rPr lang="en-US" dirty="0"/>
              <a:t>Persistent model </a:t>
            </a:r>
            <a:r>
              <a:rPr lang="en-IN" dirty="0"/>
              <a:t>– Final saved model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dirty="0"/>
              <a:t> ARIMA – Linear trend capture</a:t>
            </a:r>
          </a:p>
          <a:p>
            <a:pPr>
              <a:buFont typeface="+mj-lt"/>
              <a:buAutoNum type="arabicPeriod"/>
            </a:pPr>
            <a:r>
              <a:rPr dirty="0"/>
              <a:t>2. SARIMA – Seasonality + trend</a:t>
            </a:r>
          </a:p>
          <a:p>
            <a:pPr>
              <a:buFont typeface="+mj-lt"/>
              <a:buAutoNum type="arabicPeriod"/>
            </a:pPr>
            <a:r>
              <a:rPr dirty="0"/>
              <a:t>3. Random Forest – Non-linear patterns</a:t>
            </a:r>
          </a:p>
          <a:p>
            <a:pPr>
              <a:buFont typeface="+mj-lt"/>
              <a:buAutoNum type="arabicPeriod"/>
            </a:pPr>
            <a:r>
              <a:rPr dirty="0"/>
              <a:t>4. XGBoost – Complex pattern boosting</a:t>
            </a:r>
          </a:p>
          <a:p>
            <a:pPr>
              <a:buFont typeface="+mj-lt"/>
              <a:buAutoNum type="arabicPeriod"/>
            </a:pPr>
            <a:endParaRPr dirty="0"/>
          </a:p>
          <a:p>
            <a:pPr marL="0" indent="0">
              <a:buNone/>
            </a:pPr>
            <a:r>
              <a:rPr dirty="0"/>
              <a:t>Each model was evaluated for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ARIMA Model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captures trend and autocorrelation.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baseline prediction but weak with seasonality.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simplest statistical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SARIMA Model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SARIMA enhances ARIMA by adding seasonality.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when data repeats yearly/monthly.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accuracy than ARIMA for Apple stock.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D7C7-F192-40AD-B179-9E9AB7D85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760" y="365761"/>
            <a:ext cx="7796107" cy="1341119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Condensed" panose="020B0502040204020203" pitchFamily="34" charset="0"/>
              </a:rPr>
              <a:t>Persistent Model </a:t>
            </a:r>
            <a:r>
              <a:rPr lang="en-IN" dirty="0">
                <a:latin typeface="Bahnschrift SemiBold Condensed" panose="020B0502040204020203" pitchFamily="34" charset="0"/>
              </a:rPr>
              <a:t>Explanation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AE996-2E6D-471E-8F0E-ADD38FF4A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621281"/>
            <a:ext cx="7476067" cy="2057400"/>
          </a:xfrm>
        </p:spPr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Persistent Model saves the trained final model for reuse.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Allows instant predictions without retraining.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Improves app performance and deployment efficiency.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73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Random Forest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uses lag features (1–7 days), moving averages, and other engineered features.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non-linear relationships.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XGBoost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boosts performance using gradient boosting.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patterns effectively.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accurate model in this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created: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Lag values (1–7 days)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Rolling averages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Date-based features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80% training, 20%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RMSE – Measures prediction error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MAE – Measures average absolute error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R² Score – Measures model fit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achieved the best scores.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Pesistent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&gt; Random Forest &gt; SARIMA &gt; ARIMA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handled market fluctuations best.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also performed strongly.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Condensed" panose="020B0502040204020203" pitchFamily="34" charset="0"/>
              </a:rPr>
              <a:t>Final 30-Day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forecast shows stable short-term trend continuation.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produced the most reliable predictions.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Insights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Apple stock shows consistent upward growth.</a:t>
            </a:r>
          </a:p>
          <a:p>
            <a:pPr marL="0" indent="0">
              <a:buNone/>
            </a:pPr>
            <a:r>
              <a:rPr dirty="0"/>
              <a:t>• Short-term predictions highly reliable.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Persistent is </a:t>
            </a:r>
            <a:r>
              <a:rPr dirty="0"/>
              <a:t> is the best model.</a:t>
            </a:r>
          </a:p>
          <a:p>
            <a:pPr marL="0" indent="0">
              <a:buNone/>
            </a:pPr>
            <a:r>
              <a:rPr dirty="0"/>
              <a:t>• Forecast useful for traders &amp; analysts.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274320"/>
            <a:ext cx="6589199" cy="822960"/>
          </a:xfrm>
        </p:spPr>
        <p:txBody>
          <a:bodyPr/>
          <a:lstStyle/>
          <a:p>
            <a:r>
              <a:rPr dirty="0" err="1">
                <a:latin typeface="Bahnschrift SemiCondensed" panose="020B0502040204020203" pitchFamily="34" charset="0"/>
              </a:rPr>
              <a:t>Streamlit</a:t>
            </a:r>
            <a:r>
              <a:rPr dirty="0">
                <a:latin typeface="Bahnschrift SemiCondensed" panose="020B0502040204020203" pitchFamily="34" charset="0"/>
              </a:rPr>
              <a:t> App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64920"/>
            <a:ext cx="7772401" cy="1112520"/>
          </a:xfrm>
        </p:spPr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displays line charts, forecast outputs, and prediction tools.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interface for quick forecasting.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C44A1-5376-417C-AC99-D0B7ECB0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8229601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Date format issues in dataset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Sudden spikes affecting models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Hyperparameter tuning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Non-stationary data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with preprocessing and feature engineering.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and standardized dates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Applied differencing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Added lag features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Tuned parameters for best model accuracy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 Condensed" panose="020B0502040204020203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and compared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models.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30-day forecast generated.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proved most accurate.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ready for real-time forecasting.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D781-107C-4968-A0B3-096E68E1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" y="2255520"/>
            <a:ext cx="7147560" cy="283464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Bahnschrift SemiBold Condensed" panose="020B0502040204020203" pitchFamily="34" charset="0"/>
              </a:rPr>
              <a:t>Thank You</a:t>
            </a:r>
            <a:endParaRPr lang="en-IN" sz="72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385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</TotalTime>
  <Words>703</Words>
  <Application>Microsoft Office PowerPoint</Application>
  <PresentationFormat>On-screen Show (4:3)</PresentationFormat>
  <Paragraphs>121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Bahnschrift SemiBold Condensed</vt:lpstr>
      <vt:lpstr>Bahnschrift SemiCondensed</vt:lpstr>
      <vt:lpstr>Century Gothic</vt:lpstr>
      <vt:lpstr>Courier New</vt:lpstr>
      <vt:lpstr>Times New Roman</vt:lpstr>
      <vt:lpstr>Wingdings 3</vt:lpstr>
      <vt:lpstr>Wisp</vt:lpstr>
      <vt:lpstr>Project 30-Day Apple Stock Price Forecast </vt:lpstr>
      <vt:lpstr>Mentor &amp; Team Members</vt:lpstr>
      <vt:lpstr>Objective</vt:lpstr>
      <vt:lpstr>Problem Statement</vt:lpstr>
      <vt:lpstr>Dataset Details</vt:lpstr>
      <vt:lpstr>EDA – Closing Price Trend</vt:lpstr>
      <vt:lpstr>EDA – Moving Averages</vt:lpstr>
      <vt:lpstr>EDA – Volume Analysis</vt:lpstr>
      <vt:lpstr>EDA Summary</vt:lpstr>
      <vt:lpstr>Models Used</vt:lpstr>
      <vt:lpstr>ARIMA Model Explanation</vt:lpstr>
      <vt:lpstr>SARIMA Model Explanation</vt:lpstr>
      <vt:lpstr>Persistent Model Explanation</vt:lpstr>
      <vt:lpstr>Random Forest Explanation</vt:lpstr>
      <vt:lpstr>XGBoost Explanation</vt:lpstr>
      <vt:lpstr>Feature Engineering</vt:lpstr>
      <vt:lpstr>Evaluation Metrics</vt:lpstr>
      <vt:lpstr>Model Comparison</vt:lpstr>
      <vt:lpstr>Final 30-Day Forecast</vt:lpstr>
      <vt:lpstr>Insights &amp; Key Findings</vt:lpstr>
      <vt:lpstr>Streamlit App Screenshot</vt:lpstr>
      <vt:lpstr>Challenges Faced</vt:lpstr>
      <vt:lpstr>Solutions Implemented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30-Day Apple Stock Price Forecast Using Machine Learning Models</dc:title>
  <dc:subject/>
  <dc:creator>mandara g</dc:creator>
  <cp:keywords/>
  <dc:description>generated using python-pptx</dc:description>
  <cp:lastModifiedBy>mandara g</cp:lastModifiedBy>
  <cp:revision>8</cp:revision>
  <dcterms:created xsi:type="dcterms:W3CDTF">2013-01-27T09:14:16Z</dcterms:created>
  <dcterms:modified xsi:type="dcterms:W3CDTF">2025-12-04T11:42:10Z</dcterms:modified>
  <cp:category/>
</cp:coreProperties>
</file>